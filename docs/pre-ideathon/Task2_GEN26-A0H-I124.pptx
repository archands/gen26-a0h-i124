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mbria Bold" charset="1" panose="02040803050406030204"/>
      <p:regular r:id="rId14"/>
    </p:embeddedFon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250475" y="-1845697"/>
            <a:ext cx="5567067" cy="4824412"/>
            <a:chOff x="0" y="0"/>
            <a:chExt cx="7422756" cy="643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5774219" y="2525554"/>
            <a:ext cx="5567067" cy="4824412"/>
            <a:chOff x="0" y="0"/>
            <a:chExt cx="7422756" cy="6432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solidFill>
              <a:srgbClr val="026855">
                <a:alpha val="5882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0475" y="6896805"/>
            <a:ext cx="5567067" cy="4824412"/>
            <a:chOff x="0" y="0"/>
            <a:chExt cx="7422756" cy="6432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9920040" y="4766310"/>
            <a:ext cx="871080" cy="754380"/>
            <a:chOff x="0" y="0"/>
            <a:chExt cx="11614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415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61415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6274377" y="2592324"/>
            <a:ext cx="506816" cy="438912"/>
            <a:chOff x="0" y="0"/>
            <a:chExt cx="67575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767" cy="585216"/>
            </a:xfrm>
            <a:custGeom>
              <a:avLst/>
              <a:gdLst/>
              <a:ahLst/>
              <a:cxnLst/>
              <a:rect r="r" b="b" t="t" l="l"/>
              <a:pathLst>
                <a:path h="585216" w="675767">
                  <a:moveTo>
                    <a:pt x="0" y="292608"/>
                  </a:moveTo>
                  <a:lnTo>
                    <a:pt x="146304" y="0"/>
                  </a:lnTo>
                  <a:lnTo>
                    <a:pt x="529463" y="0"/>
                  </a:lnTo>
                  <a:lnTo>
                    <a:pt x="675767" y="292608"/>
                  </a:lnTo>
                  <a:lnTo>
                    <a:pt x="529463" y="585216"/>
                  </a:lnTo>
                  <a:lnTo>
                    <a:pt x="146304" y="585216"/>
                  </a:ln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303088" y="2160270"/>
            <a:ext cx="6414335" cy="5554980"/>
            <a:chOff x="0" y="0"/>
            <a:chExt cx="8552447" cy="7406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2434" cy="7406640"/>
            </a:xfrm>
            <a:custGeom>
              <a:avLst/>
              <a:gdLst/>
              <a:ahLst/>
              <a:cxnLst/>
              <a:rect r="r" b="b" t="t" l="l"/>
              <a:pathLst>
                <a:path h="7406640" w="8552434">
                  <a:moveTo>
                    <a:pt x="0" y="3703320"/>
                  </a:moveTo>
                  <a:lnTo>
                    <a:pt x="1851660" y="0"/>
                  </a:lnTo>
                  <a:lnTo>
                    <a:pt x="6700774" y="0"/>
                  </a:lnTo>
                  <a:lnTo>
                    <a:pt x="8552434" y="3703320"/>
                  </a:lnTo>
                  <a:lnTo>
                    <a:pt x="6700774" y="7406640"/>
                  </a:lnTo>
                  <a:lnTo>
                    <a:pt x="1851660" y="7406640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0119255" y="7186612"/>
            <a:ext cx="1295600" cy="1125855"/>
            <a:chOff x="0" y="0"/>
            <a:chExt cx="1727467" cy="1501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7454" cy="1501140"/>
            </a:xfrm>
            <a:custGeom>
              <a:avLst/>
              <a:gdLst/>
              <a:ahLst/>
              <a:cxnLst/>
              <a:rect r="r" b="b" t="t" l="l"/>
              <a:pathLst>
                <a:path h="1501140" w="1727454">
                  <a:moveTo>
                    <a:pt x="0" y="750570"/>
                  </a:moveTo>
                  <a:lnTo>
                    <a:pt x="375285" y="0"/>
                  </a:lnTo>
                  <a:lnTo>
                    <a:pt x="1352169" y="0"/>
                  </a:lnTo>
                  <a:lnTo>
                    <a:pt x="1727454" y="750570"/>
                  </a:lnTo>
                  <a:lnTo>
                    <a:pt x="1352169" y="1501140"/>
                  </a:lnTo>
                  <a:lnTo>
                    <a:pt x="375285" y="1501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94" t="0" r="-61494" b="0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0710062" y="2508885"/>
            <a:ext cx="5600405" cy="4857750"/>
            <a:chOff x="0" y="0"/>
            <a:chExt cx="7467206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7219" cy="6477000"/>
            </a:xfrm>
            <a:custGeom>
              <a:avLst/>
              <a:gdLst/>
              <a:ahLst/>
              <a:cxnLst/>
              <a:rect r="r" b="b" t="t" l="l"/>
              <a:pathLst>
                <a:path h="6477000" w="7467219">
                  <a:moveTo>
                    <a:pt x="0" y="3238500"/>
                  </a:moveTo>
                  <a:lnTo>
                    <a:pt x="1619250" y="0"/>
                  </a:lnTo>
                  <a:lnTo>
                    <a:pt x="5847969" y="0"/>
                  </a:lnTo>
                  <a:lnTo>
                    <a:pt x="7467219" y="3238500"/>
                  </a:lnTo>
                  <a:lnTo>
                    <a:pt x="5847969" y="6477000"/>
                  </a:lnTo>
                  <a:lnTo>
                    <a:pt x="1619250" y="647700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6149" y="3188970"/>
            <a:ext cx="2688222" cy="3497580"/>
            <a:chOff x="0" y="0"/>
            <a:chExt cx="3584296" cy="4663440"/>
          </a:xfrm>
        </p:grpSpPr>
        <p:sp>
          <p:nvSpPr>
            <p:cNvPr name="Freeform 19" id="19" descr="Genesis logo"/>
            <p:cNvSpPr/>
            <p:nvPr/>
          </p:nvSpPr>
          <p:spPr>
            <a:xfrm flipH="false" flipV="false" rot="0">
              <a:off x="0" y="0"/>
              <a:ext cx="3584321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84321">
                  <a:moveTo>
                    <a:pt x="0" y="0"/>
                  </a:moveTo>
                  <a:lnTo>
                    <a:pt x="3584321" y="0"/>
                  </a:lnTo>
                  <a:lnTo>
                    <a:pt x="3584321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2960" y="1379220"/>
            <a:ext cx="850392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11054" y="3897154"/>
            <a:ext cx="3178492" cy="599884"/>
            <a:chOff x="0" y="0"/>
            <a:chExt cx="4237990" cy="799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7990" cy="799846"/>
            </a:xfrm>
            <a:custGeom>
              <a:avLst/>
              <a:gdLst/>
              <a:ahLst/>
              <a:cxnLst/>
              <a:rect r="r" b="b" t="t" l="l"/>
              <a:pathLst>
                <a:path h="799846" w="4237990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3838067" y="0"/>
                  </a:lnTo>
                  <a:cubicBezTo>
                    <a:pt x="4058920" y="0"/>
                    <a:pt x="4237990" y="179070"/>
                    <a:pt x="4237990" y="399923"/>
                  </a:cubicBezTo>
                  <a:cubicBezTo>
                    <a:pt x="4237990" y="620776"/>
                    <a:pt x="4058920" y="799846"/>
                    <a:pt x="3838067" y="799846"/>
                  </a:cubicBezTo>
                  <a:lnTo>
                    <a:pt x="399923" y="799846"/>
                  </a:lnTo>
                  <a:cubicBezTo>
                    <a:pt x="179070" y="799846"/>
                    <a:pt x="0" y="620776"/>
                    <a:pt x="0" y="39992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41" r="0" b="-53241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237990" cy="84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22960" y="5507355"/>
            <a:ext cx="9052560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7AC1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 – 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IntelliHive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7AC1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 – 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Archand S (CB.AI.U4QTS25007),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Kruthic Kumar N L (CB.PS.I5DAS25014),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Pranav S (CB.PS.I5DAS25128),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Swetha T (CB.PS.I5DAS25136)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7AC1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Selected Domain – 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4: Climate Action, Water &amp; Environmental Resilience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7AC1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–</a:t>
            </a: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Rainfall forecasts tell us how much rain is coming but not which street will drown, how deep, or when.Without street-level flood intelligence, authorities and citizens are forced to react after the water arrives.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DOMAIN PROBLEM IN OUR WORDS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Cities know how much rain is coming, but not which streets will flood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816" y="3078956"/>
            <a:ext cx="8163649" cy="6255068"/>
            <a:chOff x="0" y="0"/>
            <a:chExt cx="10884865" cy="83400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84916" cy="8340090"/>
            </a:xfrm>
            <a:custGeom>
              <a:avLst/>
              <a:gdLst/>
              <a:ahLst/>
              <a:cxnLst/>
              <a:rect r="r" b="b" t="t" l="l"/>
              <a:pathLst>
                <a:path h="8340090" w="10884916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10551287" y="0"/>
                  </a:lnTo>
                  <a:cubicBezTo>
                    <a:pt x="10735564" y="0"/>
                    <a:pt x="10884916" y="149352"/>
                    <a:pt x="10884916" y="333629"/>
                  </a:cubicBezTo>
                  <a:lnTo>
                    <a:pt x="10884916" y="8006461"/>
                  </a:lnTo>
                  <a:cubicBezTo>
                    <a:pt x="10884916" y="8190738"/>
                    <a:pt x="10735564" y="8340090"/>
                    <a:pt x="10551287" y="8340090"/>
                  </a:cubicBezTo>
                  <a:lnTo>
                    <a:pt x="333629" y="8340090"/>
                  </a:lnTo>
                  <a:cubicBezTo>
                    <a:pt x="149352" y="8340090"/>
                    <a:pt x="0" y="8190738"/>
                    <a:pt x="0" y="80064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3291840"/>
            <a:ext cx="7737881" cy="617220"/>
            <a:chOff x="0" y="0"/>
            <a:chExt cx="10317175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17226" cy="822960"/>
            </a:xfrm>
            <a:custGeom>
              <a:avLst/>
              <a:gdLst/>
              <a:ahLst/>
              <a:cxnLst/>
              <a:rect r="r" b="b" t="t" l="l"/>
              <a:pathLst>
                <a:path h="822960" w="1031722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0070338" y="0"/>
                  </a:lnTo>
                  <a:cubicBezTo>
                    <a:pt x="10206736" y="0"/>
                    <a:pt x="10317226" y="110490"/>
                    <a:pt x="10317226" y="246888"/>
                  </a:cubicBezTo>
                  <a:lnTo>
                    <a:pt x="10317226" y="576072"/>
                  </a:lnTo>
                  <a:cubicBezTo>
                    <a:pt x="10317226" y="712470"/>
                    <a:pt x="10206736" y="822960"/>
                    <a:pt x="1007033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317175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needs to be solved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65860" y="4057650"/>
            <a:ext cx="7463561" cy="499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gap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forecasts give rainfall amounts, not street-level flood depth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cause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terrain, concrete surfaces and drain capacity decide where water collects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blind spot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which street floods, how deep, and when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action gap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cities react only after the water has risen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need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street-level, depth-based early warning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308078" y="3078956"/>
            <a:ext cx="8163649" cy="6255068"/>
            <a:chOff x="0" y="0"/>
            <a:chExt cx="10884865" cy="83400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84916" cy="8340090"/>
            </a:xfrm>
            <a:custGeom>
              <a:avLst/>
              <a:gdLst/>
              <a:ahLst/>
              <a:cxnLst/>
              <a:rect r="r" b="b" t="t" l="l"/>
              <a:pathLst>
                <a:path h="8340090" w="10884916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10551287" y="0"/>
                  </a:lnTo>
                  <a:cubicBezTo>
                    <a:pt x="10735564" y="0"/>
                    <a:pt x="10884916" y="149352"/>
                    <a:pt x="10884916" y="333629"/>
                  </a:cubicBezTo>
                  <a:lnTo>
                    <a:pt x="10884916" y="8006461"/>
                  </a:lnTo>
                  <a:cubicBezTo>
                    <a:pt x="10884916" y="8190738"/>
                    <a:pt x="10735564" y="8340090"/>
                    <a:pt x="10551287" y="8340090"/>
                  </a:cubicBezTo>
                  <a:lnTo>
                    <a:pt x="333629" y="8340090"/>
                  </a:lnTo>
                  <a:cubicBezTo>
                    <a:pt x="149352" y="8340090"/>
                    <a:pt x="0" y="8190738"/>
                    <a:pt x="0" y="80064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520961" y="3291840"/>
            <a:ext cx="7737881" cy="617220"/>
            <a:chOff x="0" y="0"/>
            <a:chExt cx="10317175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317226" cy="822960"/>
            </a:xfrm>
            <a:custGeom>
              <a:avLst/>
              <a:gdLst/>
              <a:ahLst/>
              <a:cxnLst/>
              <a:rect r="r" b="b" t="t" l="l"/>
              <a:pathLst>
                <a:path h="822960" w="1031722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0070338" y="0"/>
                  </a:lnTo>
                  <a:cubicBezTo>
                    <a:pt x="10206736" y="0"/>
                    <a:pt x="10317226" y="110490"/>
                    <a:pt x="10317226" y="246888"/>
                  </a:cubicBezTo>
                  <a:lnTo>
                    <a:pt x="10317226" y="576072"/>
                  </a:lnTo>
                  <a:cubicBezTo>
                    <a:pt x="10317226" y="712470"/>
                    <a:pt x="10206736" y="822960"/>
                    <a:pt x="1007033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317175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now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658121" y="4057650"/>
            <a:ext cx="7463561" cy="499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Climate change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heavier, more intense monsoon rainfall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Rapid urbanisation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more concrete, more runoff, more exposed people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Short warning window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often only 0–3 hours to act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 response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gridlock and damaged property before help arrives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Lives at stake –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monsoon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Everyone in a flood-prone city, but some groups bear the most risk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816" y="3078956"/>
            <a:ext cx="5332895" cy="6255068"/>
            <a:chOff x="0" y="0"/>
            <a:chExt cx="7110527" cy="83400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10603" cy="8340090"/>
            </a:xfrm>
            <a:custGeom>
              <a:avLst/>
              <a:gdLst/>
              <a:ahLst/>
              <a:cxnLst/>
              <a:rect r="r" b="b" t="t" l="l"/>
              <a:pathLst>
                <a:path h="8340090" w="7110603">
                  <a:moveTo>
                    <a:pt x="0" y="284480"/>
                  </a:moveTo>
                  <a:cubicBezTo>
                    <a:pt x="0" y="127381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7381"/>
                    <a:pt x="7110603" y="284480"/>
                  </a:cubicBezTo>
                  <a:lnTo>
                    <a:pt x="7110603" y="8055610"/>
                  </a:lnTo>
                  <a:cubicBezTo>
                    <a:pt x="7110603" y="8212709"/>
                    <a:pt x="6983222" y="8340090"/>
                    <a:pt x="6826123" y="8340090"/>
                  </a:cubicBezTo>
                  <a:lnTo>
                    <a:pt x="284480" y="8340090"/>
                  </a:lnTo>
                  <a:cubicBezTo>
                    <a:pt x="127381" y="8340090"/>
                    <a:pt x="0" y="8212709"/>
                    <a:pt x="0" y="80556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3291840"/>
            <a:ext cx="4907128" cy="617220"/>
            <a:chOff x="0" y="0"/>
            <a:chExt cx="6542837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users &amp; target group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65860" y="4057650"/>
            <a:ext cx="4632808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Municipal corporations and disaster management authorities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Emergency services: ambulance, fire, police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police and field response teams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477324" y="3078956"/>
            <a:ext cx="5332895" cy="6255068"/>
            <a:chOff x="0" y="0"/>
            <a:chExt cx="7110527" cy="83400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10603" cy="8340090"/>
            </a:xfrm>
            <a:custGeom>
              <a:avLst/>
              <a:gdLst/>
              <a:ahLst/>
              <a:cxnLst/>
              <a:rect r="r" b="b" t="t" l="l"/>
              <a:pathLst>
                <a:path h="8340090" w="7110603">
                  <a:moveTo>
                    <a:pt x="0" y="284480"/>
                  </a:moveTo>
                  <a:cubicBezTo>
                    <a:pt x="0" y="127381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7381"/>
                    <a:pt x="7110603" y="284480"/>
                  </a:cubicBezTo>
                  <a:lnTo>
                    <a:pt x="7110603" y="8055610"/>
                  </a:lnTo>
                  <a:cubicBezTo>
                    <a:pt x="7110603" y="8212709"/>
                    <a:pt x="6983222" y="8340090"/>
                    <a:pt x="6826123" y="8340090"/>
                  </a:cubicBezTo>
                  <a:lnTo>
                    <a:pt x="284480" y="8340090"/>
                  </a:lnTo>
                  <a:cubicBezTo>
                    <a:pt x="127381" y="8340090"/>
                    <a:pt x="0" y="8212709"/>
                    <a:pt x="0" y="80556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690208" y="3291840"/>
            <a:ext cx="4907128" cy="617220"/>
            <a:chOff x="0" y="0"/>
            <a:chExt cx="6542837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Secondary stakeholders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827368" y="4057650"/>
            <a:ext cx="4632808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transport operators and navigation app providers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Residents, commuters, small businesses and vehicle owners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Vulnerable communities in low-lying areas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138831" y="3078956"/>
            <a:ext cx="5332895" cy="6255068"/>
            <a:chOff x="0" y="0"/>
            <a:chExt cx="7110527" cy="83400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10603" cy="8340090"/>
            </a:xfrm>
            <a:custGeom>
              <a:avLst/>
              <a:gdLst/>
              <a:ahLst/>
              <a:cxnLst/>
              <a:rect r="r" b="b" t="t" l="l"/>
              <a:pathLst>
                <a:path h="8340090" w="7110603">
                  <a:moveTo>
                    <a:pt x="0" y="284480"/>
                  </a:moveTo>
                  <a:cubicBezTo>
                    <a:pt x="0" y="127381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7381"/>
                    <a:pt x="7110603" y="284480"/>
                  </a:cubicBezTo>
                  <a:lnTo>
                    <a:pt x="7110603" y="8055610"/>
                  </a:lnTo>
                  <a:cubicBezTo>
                    <a:pt x="7110603" y="8212709"/>
                    <a:pt x="6983222" y="8340090"/>
                    <a:pt x="6826123" y="8340090"/>
                  </a:cubicBezTo>
                  <a:lnTo>
                    <a:pt x="284480" y="8340090"/>
                  </a:lnTo>
                  <a:cubicBezTo>
                    <a:pt x="127381" y="8340090"/>
                    <a:pt x="0" y="8212709"/>
                    <a:pt x="0" y="80556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51715" y="3291840"/>
            <a:ext cx="4907128" cy="617220"/>
            <a:chOff x="0" y="0"/>
            <a:chExt cx="6542837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benefits if solved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488875" y="4057650"/>
            <a:ext cx="4632808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Citizens get early warnings and safe routes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Authorities get a priority list of critical roads and drains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The city saves on property damage and drainage planning costs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Today’s flood response is reactive, not predictive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816" y="3078956"/>
            <a:ext cx="16655910" cy="1523048"/>
            <a:chOff x="0" y="0"/>
            <a:chExt cx="22207880" cy="20307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207982" cy="2030730"/>
            </a:xfrm>
            <a:custGeom>
              <a:avLst/>
              <a:gdLst/>
              <a:ahLst/>
              <a:cxnLst/>
              <a:rect r="r" b="b" t="t" l="l"/>
              <a:pathLst>
                <a:path h="2030730" w="22207982">
                  <a:moveTo>
                    <a:pt x="0" y="81280"/>
                  </a:moveTo>
                  <a:cubicBezTo>
                    <a:pt x="0" y="36322"/>
                    <a:pt x="36322" y="0"/>
                    <a:pt x="81280" y="0"/>
                  </a:cubicBezTo>
                  <a:lnTo>
                    <a:pt x="22126702" y="0"/>
                  </a:lnTo>
                  <a:cubicBezTo>
                    <a:pt x="22171533" y="0"/>
                    <a:pt x="22207982" y="36322"/>
                    <a:pt x="22207982" y="81280"/>
                  </a:cubicBezTo>
                  <a:lnTo>
                    <a:pt x="22207982" y="1949450"/>
                  </a:lnTo>
                  <a:cubicBezTo>
                    <a:pt x="22207982" y="1994281"/>
                    <a:pt x="22171661" y="2030730"/>
                    <a:pt x="22126702" y="2030730"/>
                  </a:cubicBezTo>
                  <a:lnTo>
                    <a:pt x="81280" y="2030730"/>
                  </a:lnTo>
                  <a:cubicBezTo>
                    <a:pt x="36449" y="2030730"/>
                    <a:pt x="0" y="1994408"/>
                    <a:pt x="0" y="194945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65860" y="3086100"/>
            <a:ext cx="15955823" cy="1508760"/>
            <a:chOff x="0" y="0"/>
            <a:chExt cx="21274430" cy="2011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27443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274430">
                  <a:moveTo>
                    <a:pt x="0" y="0"/>
                  </a:moveTo>
                  <a:lnTo>
                    <a:pt x="21274430" y="0"/>
                  </a:lnTo>
                  <a:lnTo>
                    <a:pt x="2127443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63" r="0" b="-1560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127443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scenario – </a:t>
              </a:r>
              <a:r>
                <a:rPr lang="en-US" sz="2250">
                  <a:solidFill>
                    <a:srgbClr val="0E2A2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Indian metros like Chennai, Mumbai and Delhi face flooding almost every monsoon. Chennai’s 2015 floods and 2023 Cyclone Michaung are well-known examples.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5816" y="4930616"/>
            <a:ext cx="7283768" cy="4403408"/>
            <a:chOff x="0" y="0"/>
            <a:chExt cx="9711690" cy="58712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1690" cy="5871210"/>
            </a:xfrm>
            <a:custGeom>
              <a:avLst/>
              <a:gdLst/>
              <a:ahLst/>
              <a:cxnLst/>
              <a:rect r="r" b="b" t="t" l="l"/>
              <a:pathLst>
                <a:path h="5871210" w="9711690">
                  <a:moveTo>
                    <a:pt x="0" y="234823"/>
                  </a:moveTo>
                  <a:cubicBezTo>
                    <a:pt x="0" y="105156"/>
                    <a:pt x="105156" y="0"/>
                    <a:pt x="234823" y="0"/>
                  </a:cubicBezTo>
                  <a:lnTo>
                    <a:pt x="9476867" y="0"/>
                  </a:lnTo>
                  <a:cubicBezTo>
                    <a:pt x="9606535" y="0"/>
                    <a:pt x="9711690" y="105156"/>
                    <a:pt x="9711690" y="234823"/>
                  </a:cubicBezTo>
                  <a:lnTo>
                    <a:pt x="9711690" y="5636387"/>
                  </a:lnTo>
                  <a:cubicBezTo>
                    <a:pt x="9711690" y="5766054"/>
                    <a:pt x="9606535" y="5871210"/>
                    <a:pt x="9476867" y="5871210"/>
                  </a:cubicBezTo>
                  <a:lnTo>
                    <a:pt x="234823" y="5871210"/>
                  </a:lnTo>
                  <a:cubicBezTo>
                    <a:pt x="105156" y="5871210"/>
                    <a:pt x="0" y="5766054"/>
                    <a:pt x="0" y="563638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28700" y="5143500"/>
            <a:ext cx="6858000" cy="617220"/>
            <a:chOff x="0" y="0"/>
            <a:chExt cx="914400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822960"/>
            </a:xfrm>
            <a:custGeom>
              <a:avLst/>
              <a:gdLst/>
              <a:ahLst/>
              <a:cxnLst/>
              <a:rect r="r" b="b" t="t" l="l"/>
              <a:pathLst>
                <a:path h="822960" w="914400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8897112" y="0"/>
                  </a:lnTo>
                  <a:cubicBezTo>
                    <a:pt x="9033510" y="0"/>
                    <a:pt x="9144000" y="110490"/>
                    <a:pt x="9144000" y="246888"/>
                  </a:cubicBezTo>
                  <a:lnTo>
                    <a:pt x="9144000" y="576072"/>
                  </a:lnTo>
                  <a:cubicBezTo>
                    <a:pt x="9144000" y="712470"/>
                    <a:pt x="9033510" y="822960"/>
                    <a:pt x="8897112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Relevant facts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65860" y="5909310"/>
            <a:ext cx="6583680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Weather agencies give rainfall forecasts over large areas, not street-level flood information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Stormwater drain maps exist, but are not linked to live forecasts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Flooding depends on terrain, concrete surfaces and drain capacity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428196" y="4930616"/>
            <a:ext cx="9043530" cy="4403408"/>
            <a:chOff x="0" y="0"/>
            <a:chExt cx="12058040" cy="587121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58015" cy="5871210"/>
            </a:xfrm>
            <a:custGeom>
              <a:avLst/>
              <a:gdLst/>
              <a:ahLst/>
              <a:cxnLst/>
              <a:rect r="r" b="b" t="t" l="l"/>
              <a:pathLst>
                <a:path h="5871210" w="12058015">
                  <a:moveTo>
                    <a:pt x="0" y="234823"/>
                  </a:moveTo>
                  <a:cubicBezTo>
                    <a:pt x="0" y="105156"/>
                    <a:pt x="105156" y="0"/>
                    <a:pt x="234823" y="0"/>
                  </a:cubicBezTo>
                  <a:lnTo>
                    <a:pt x="11823192" y="0"/>
                  </a:lnTo>
                  <a:cubicBezTo>
                    <a:pt x="11952860" y="0"/>
                    <a:pt x="12058015" y="105156"/>
                    <a:pt x="12058015" y="234823"/>
                  </a:cubicBezTo>
                  <a:lnTo>
                    <a:pt x="12058015" y="5636387"/>
                  </a:lnTo>
                  <a:cubicBezTo>
                    <a:pt x="12058015" y="5766054"/>
                    <a:pt x="11952860" y="5871210"/>
                    <a:pt x="11823192" y="5871210"/>
                  </a:cubicBezTo>
                  <a:lnTo>
                    <a:pt x="234823" y="5871210"/>
                  </a:lnTo>
                  <a:cubicBezTo>
                    <a:pt x="105156" y="5871210"/>
                    <a:pt x="0" y="5766054"/>
                    <a:pt x="0" y="563638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641080" y="5143500"/>
            <a:ext cx="8617763" cy="617220"/>
            <a:chOff x="0" y="0"/>
            <a:chExt cx="1149035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90325" cy="822960"/>
            </a:xfrm>
            <a:custGeom>
              <a:avLst/>
              <a:gdLst/>
              <a:ahLst/>
              <a:cxnLst/>
              <a:rect r="r" b="b" t="t" l="l"/>
              <a:pathLst>
                <a:path h="822960" w="11490325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1243437" y="0"/>
                  </a:lnTo>
                  <a:cubicBezTo>
                    <a:pt x="11379835" y="0"/>
                    <a:pt x="11490325" y="110490"/>
                    <a:pt x="11490325" y="246888"/>
                  </a:cubicBezTo>
                  <a:lnTo>
                    <a:pt x="11490325" y="576072"/>
                  </a:lnTo>
                  <a:cubicBezTo>
                    <a:pt x="11490325" y="712470"/>
                    <a:pt x="11379835" y="822960"/>
                    <a:pt x="11243437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149035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workflow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87484" y="5939028"/>
            <a:ext cx="7534199" cy="795528"/>
            <a:chOff x="0" y="0"/>
            <a:chExt cx="10045598" cy="10607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45598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045598">
                  <a:moveTo>
                    <a:pt x="0" y="0"/>
                  </a:moveTo>
                  <a:lnTo>
                    <a:pt x="10045598" y="0"/>
                  </a:lnTo>
                  <a:lnTo>
                    <a:pt x="1004559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36" r="0" b="-13453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0045598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E2A2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department issues a rainfall forecast or alert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87484" y="6734556"/>
            <a:ext cx="7534199" cy="795528"/>
            <a:chOff x="0" y="0"/>
            <a:chExt cx="10045598" cy="10607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45598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045598">
                  <a:moveTo>
                    <a:pt x="0" y="0"/>
                  </a:moveTo>
                  <a:lnTo>
                    <a:pt x="10045598" y="0"/>
                  </a:lnTo>
                  <a:lnTo>
                    <a:pt x="1004559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36" r="0" b="-13453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0045598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E2A2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Authorities wait for reports of waterlogging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87484" y="7530084"/>
            <a:ext cx="7534199" cy="795528"/>
            <a:chOff x="0" y="0"/>
            <a:chExt cx="10045598" cy="10607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45598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045598">
                  <a:moveTo>
                    <a:pt x="0" y="0"/>
                  </a:moveTo>
                  <a:lnTo>
                    <a:pt x="10045598" y="0"/>
                  </a:lnTo>
                  <a:lnTo>
                    <a:pt x="1004559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36" r="0" b="-13453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0045598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E2A2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Teams are sent to flooded spots after the water has risen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87484" y="8325612"/>
            <a:ext cx="7534199" cy="796723"/>
            <a:chOff x="0" y="0"/>
            <a:chExt cx="10045598" cy="106229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045598" cy="1062298"/>
            </a:xfrm>
            <a:custGeom>
              <a:avLst/>
              <a:gdLst/>
              <a:ahLst/>
              <a:cxnLst/>
              <a:rect r="r" b="b" t="t" l="l"/>
              <a:pathLst>
                <a:path h="1062298" w="10045598">
                  <a:moveTo>
                    <a:pt x="0" y="0"/>
                  </a:moveTo>
                  <a:lnTo>
                    <a:pt x="10045598" y="0"/>
                  </a:lnTo>
                  <a:lnTo>
                    <a:pt x="10045598" y="1062298"/>
                  </a:lnTo>
                  <a:lnTo>
                    <a:pt x="0" y="1062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34" r="0" b="-13418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0045598" cy="1119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E2A2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Citizens find out through social media, calls or by getting stuck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Rain is predicted, but its street-level effect is invisible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816" y="3078956"/>
            <a:ext cx="5332895" cy="5973604"/>
            <a:chOff x="0" y="0"/>
            <a:chExt cx="7110527" cy="79648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10603" cy="7964805"/>
            </a:xfrm>
            <a:custGeom>
              <a:avLst/>
              <a:gdLst/>
              <a:ahLst/>
              <a:cxnLst/>
              <a:rect r="r" b="b" t="t" l="l"/>
              <a:pathLst>
                <a:path h="7964805" w="7110603">
                  <a:moveTo>
                    <a:pt x="0" y="271679"/>
                  </a:moveTo>
                  <a:cubicBezTo>
                    <a:pt x="0" y="121649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1649"/>
                    <a:pt x="7110603" y="271679"/>
                  </a:cubicBezTo>
                  <a:lnTo>
                    <a:pt x="7110603" y="7693126"/>
                  </a:lnTo>
                  <a:cubicBezTo>
                    <a:pt x="7110603" y="7843155"/>
                    <a:pt x="6983222" y="7964805"/>
                    <a:pt x="6826123" y="7964805"/>
                  </a:cubicBezTo>
                  <a:lnTo>
                    <a:pt x="284480" y="7964805"/>
                  </a:lnTo>
                  <a:cubicBezTo>
                    <a:pt x="127381" y="7964805"/>
                    <a:pt x="0" y="7843155"/>
                    <a:pt x="0" y="76931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52B3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3291840"/>
            <a:ext cx="4907128" cy="617220"/>
            <a:chOff x="0" y="0"/>
            <a:chExt cx="6542837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difficulties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65860" y="4067175"/>
            <a:ext cx="4632808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No street-level, depth-based flood forecast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Rainfall, terrain and drains are analysed separately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Very short time to act, often 0–3 hours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Drain overflow onto roads is not predicted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477324" y="3078956"/>
            <a:ext cx="5471008" cy="5957287"/>
            <a:chOff x="0" y="0"/>
            <a:chExt cx="7294677" cy="7943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94753" cy="7943050"/>
            </a:xfrm>
            <a:custGeom>
              <a:avLst/>
              <a:gdLst/>
              <a:ahLst/>
              <a:cxnLst/>
              <a:rect r="r" b="b" t="t" l="l"/>
              <a:pathLst>
                <a:path h="7943050" w="7294753">
                  <a:moveTo>
                    <a:pt x="0" y="270937"/>
                  </a:moveTo>
                  <a:cubicBezTo>
                    <a:pt x="0" y="121317"/>
                    <a:pt x="130680" y="0"/>
                    <a:pt x="291848" y="0"/>
                  </a:cubicBezTo>
                  <a:lnTo>
                    <a:pt x="7002907" y="0"/>
                  </a:lnTo>
                  <a:cubicBezTo>
                    <a:pt x="7164075" y="0"/>
                    <a:pt x="7294753" y="121317"/>
                    <a:pt x="7294753" y="270937"/>
                  </a:cubicBezTo>
                  <a:lnTo>
                    <a:pt x="7294753" y="7672113"/>
                  </a:lnTo>
                  <a:cubicBezTo>
                    <a:pt x="7294753" y="7821733"/>
                    <a:pt x="7164075" y="7943050"/>
                    <a:pt x="7002907" y="7943050"/>
                  </a:cubicBezTo>
                  <a:lnTo>
                    <a:pt x="291848" y="7943050"/>
                  </a:lnTo>
                  <a:cubicBezTo>
                    <a:pt x="130680" y="7943050"/>
                    <a:pt x="0" y="7821733"/>
                    <a:pt x="0" y="767211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E2A2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690208" y="3291840"/>
            <a:ext cx="4907128" cy="617220"/>
            <a:chOff x="0" y="0"/>
            <a:chExt cx="6542837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causes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827368" y="4067175"/>
            <a:ext cx="4632808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Concrete surfaces increase runoff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Old, undersized or blocked drains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high-resolution terrain and drainage data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Few real-time, hyper-local prediction tools for city bodies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138831" y="3131703"/>
            <a:ext cx="5332895" cy="5738846"/>
            <a:chOff x="0" y="0"/>
            <a:chExt cx="7110527" cy="76517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10603" cy="7651795"/>
            </a:xfrm>
            <a:custGeom>
              <a:avLst/>
              <a:gdLst/>
              <a:ahLst/>
              <a:cxnLst/>
              <a:rect r="r" b="b" t="t" l="l"/>
              <a:pathLst>
                <a:path h="7651795" w="7110603">
                  <a:moveTo>
                    <a:pt x="0" y="261002"/>
                  </a:moveTo>
                  <a:cubicBezTo>
                    <a:pt x="0" y="116868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16868"/>
                    <a:pt x="7110603" y="261002"/>
                  </a:cubicBezTo>
                  <a:lnTo>
                    <a:pt x="7110603" y="7390792"/>
                  </a:lnTo>
                  <a:cubicBezTo>
                    <a:pt x="7110603" y="7534926"/>
                    <a:pt x="6983222" y="7651795"/>
                    <a:pt x="6826123" y="7651795"/>
                  </a:cubicBezTo>
                  <a:lnTo>
                    <a:pt x="284480" y="7651795"/>
                  </a:lnTo>
                  <a:cubicBezTo>
                    <a:pt x="127381" y="7651795"/>
                    <a:pt x="0" y="7534926"/>
                    <a:pt x="0" y="73907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E2A2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51715" y="3291840"/>
            <a:ext cx="4907128" cy="617220"/>
            <a:chOff x="0" y="0"/>
            <a:chExt cx="6542837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Consequences if unsolved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488875" y="4067175"/>
            <a:ext cx="4632808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gridlock and delayed ambulances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Damaged vehicles, homes and businesses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Loss of life and growing economic losses each monsoon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 tools exist, but none connects rainfall, drains and action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aphicFrame>
        <p:nvGraphicFramePr>
          <p:cNvPr name="Table 41" id="41"/>
          <p:cNvGraphicFramePr>
            <a:graphicFrameLocks noGrp="true"/>
          </p:cNvGraphicFramePr>
          <p:nvPr/>
        </p:nvGraphicFramePr>
        <p:xfrm>
          <a:off x="822960" y="3086100"/>
          <a:ext cx="16611600" cy="4255770"/>
        </p:xfrm>
        <a:graphic>
          <a:graphicData uri="http://schemas.openxmlformats.org/drawingml/2006/table">
            <a:tbl>
              <a:tblPr/>
              <a:tblGrid>
                <a:gridCol w="7259957"/>
                <a:gridCol w="9351643"/>
              </a:tblGrid>
              <a:tr h="859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Existing approach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</a:tr>
              <a:tr h="859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Weather forecasts and radar nowcasts (IMD)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Show rainfall, not street-level flood depth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Detailed hydraulic and drainage simulation software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Needs heavy data and expertise, and is slow and costly for real-time use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0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ML flood susceptibility maps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Often static and do not model drain capacity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Navigation apps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Show traffic, not flood depth, so they can route vehicles into water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2" id="42"/>
          <p:cNvGrpSpPr/>
          <p:nvPr/>
        </p:nvGrpSpPr>
        <p:grpSpPr>
          <a:xfrm rot="0">
            <a:off x="822960" y="7543800"/>
            <a:ext cx="16641623" cy="1783080"/>
            <a:chOff x="0" y="0"/>
            <a:chExt cx="22188830" cy="2377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88804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188804">
                  <a:moveTo>
                    <a:pt x="0" y="285242"/>
                  </a:moveTo>
                  <a:cubicBezTo>
                    <a:pt x="0" y="127762"/>
                    <a:pt x="127762" y="0"/>
                    <a:pt x="285242" y="0"/>
                  </a:cubicBezTo>
                  <a:lnTo>
                    <a:pt x="21903562" y="0"/>
                  </a:lnTo>
                  <a:cubicBezTo>
                    <a:pt x="22061170" y="0"/>
                    <a:pt x="22188804" y="127762"/>
                    <a:pt x="22188804" y="285242"/>
                  </a:cubicBezTo>
                  <a:lnTo>
                    <a:pt x="22188804" y="2092198"/>
                  </a:lnTo>
                  <a:cubicBezTo>
                    <a:pt x="22188804" y="2249805"/>
                    <a:pt x="22061043" y="2377440"/>
                    <a:pt x="21903562" y="2377440"/>
                  </a:cubicBezTo>
                  <a:lnTo>
                    <a:pt x="285242" y="2377440"/>
                  </a:lnTo>
                  <a:cubicBezTo>
                    <a:pt x="127762" y="2377440"/>
                    <a:pt x="0" y="2249678"/>
                    <a:pt x="0" y="2092198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" y="7543800"/>
            <a:ext cx="15818663" cy="1783080"/>
            <a:chOff x="0" y="0"/>
            <a:chExt cx="2109155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09155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62" r="0" b="-1228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2109155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 they leave open – 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low-cost system that couples live rainfall with terrain and drain capacity to give street-level depth and tell people what to do.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Resources required to solve the problem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5816" y="3078956"/>
            <a:ext cx="5332895" cy="6179344"/>
            <a:chOff x="0" y="0"/>
            <a:chExt cx="7110527" cy="82391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10603" cy="8239125"/>
            </a:xfrm>
            <a:custGeom>
              <a:avLst/>
              <a:gdLst/>
              <a:ahLst/>
              <a:cxnLst/>
              <a:rect r="r" b="b" t="t" l="l"/>
              <a:pathLst>
                <a:path h="8239125" w="7110603">
                  <a:moveTo>
                    <a:pt x="0" y="281036"/>
                  </a:moveTo>
                  <a:cubicBezTo>
                    <a:pt x="0" y="125839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5839"/>
                    <a:pt x="7110603" y="281036"/>
                  </a:cubicBezTo>
                  <a:lnTo>
                    <a:pt x="7110603" y="7958089"/>
                  </a:lnTo>
                  <a:cubicBezTo>
                    <a:pt x="7110603" y="8113286"/>
                    <a:pt x="6983222" y="8239125"/>
                    <a:pt x="6826123" y="8239125"/>
                  </a:cubicBezTo>
                  <a:lnTo>
                    <a:pt x="284480" y="8239125"/>
                  </a:lnTo>
                  <a:cubicBezTo>
                    <a:pt x="127381" y="8239125"/>
                    <a:pt x="0" y="8113286"/>
                    <a:pt x="0" y="79580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3291840"/>
            <a:ext cx="4907128" cy="617220"/>
            <a:chOff x="0" y="0"/>
            <a:chExt cx="6542837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requirements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65860" y="4067175"/>
            <a:ext cx="4635189" cy="271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723" indent="-230862" lvl="1">
              <a:lnSpc>
                <a:spcPts val="3061"/>
              </a:lnSpc>
              <a:buFont typeface="Arial"/>
              <a:buChar char="•"/>
            </a:pPr>
            <a:r>
              <a:rPr lang="en-US" sz="255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Laptops or a cloud server for processing and hosting</a:t>
            </a:r>
          </a:p>
          <a:p>
            <a:pPr algn="l">
              <a:lnSpc>
                <a:spcPts val="3061"/>
              </a:lnSpc>
            </a:pPr>
          </a:p>
          <a:p>
            <a:pPr algn="l">
              <a:lnSpc>
                <a:spcPts val="3061"/>
              </a:lnSpc>
            </a:pPr>
          </a:p>
          <a:p>
            <a:pPr algn="l" marL="461723" indent="-230862" lvl="1">
              <a:lnSpc>
                <a:spcPts val="3061"/>
              </a:lnSpc>
              <a:buFont typeface="Arial"/>
              <a:buChar char="•"/>
            </a:pPr>
            <a:r>
              <a:rPr lang="en-US" sz="255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Optional: rain gauges and water-level sensors for validation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477324" y="3078956"/>
            <a:ext cx="5332895" cy="6179344"/>
            <a:chOff x="0" y="0"/>
            <a:chExt cx="7110527" cy="82391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10603" cy="8239125"/>
            </a:xfrm>
            <a:custGeom>
              <a:avLst/>
              <a:gdLst/>
              <a:ahLst/>
              <a:cxnLst/>
              <a:rect r="r" b="b" t="t" l="l"/>
              <a:pathLst>
                <a:path h="8239125" w="7110603">
                  <a:moveTo>
                    <a:pt x="0" y="281036"/>
                  </a:moveTo>
                  <a:cubicBezTo>
                    <a:pt x="0" y="125839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5839"/>
                    <a:pt x="7110603" y="281036"/>
                  </a:cubicBezTo>
                  <a:lnTo>
                    <a:pt x="7110603" y="7958089"/>
                  </a:lnTo>
                  <a:cubicBezTo>
                    <a:pt x="7110603" y="8113286"/>
                    <a:pt x="6983222" y="8239125"/>
                    <a:pt x="6826123" y="8239125"/>
                  </a:cubicBezTo>
                  <a:lnTo>
                    <a:pt x="284480" y="8239125"/>
                  </a:lnTo>
                  <a:cubicBezTo>
                    <a:pt x="127381" y="8239125"/>
                    <a:pt x="0" y="8113286"/>
                    <a:pt x="0" y="79580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690208" y="3291840"/>
            <a:ext cx="4907128" cy="617220"/>
            <a:chOff x="0" y="0"/>
            <a:chExt cx="6542837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requirements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827368" y="4067175"/>
            <a:ext cx="4632808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with GeoPandas, Rasterio and NetworkX for terrain and drain graph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Rainfall nowcasting (pySTEPS) and XGBoost + SHAP for ML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PostgreSQL/PostGIS, FastAPI, React with a map library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138831" y="3078956"/>
            <a:ext cx="5332895" cy="6179344"/>
            <a:chOff x="0" y="0"/>
            <a:chExt cx="7110527" cy="82391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10603" cy="8239125"/>
            </a:xfrm>
            <a:custGeom>
              <a:avLst/>
              <a:gdLst/>
              <a:ahLst/>
              <a:cxnLst/>
              <a:rect r="r" b="b" t="t" l="l"/>
              <a:pathLst>
                <a:path h="8239125" w="7110603">
                  <a:moveTo>
                    <a:pt x="0" y="281036"/>
                  </a:moveTo>
                  <a:cubicBezTo>
                    <a:pt x="0" y="125839"/>
                    <a:pt x="127381" y="0"/>
                    <a:pt x="284480" y="0"/>
                  </a:cubicBezTo>
                  <a:lnTo>
                    <a:pt x="6826123" y="0"/>
                  </a:lnTo>
                  <a:cubicBezTo>
                    <a:pt x="6983222" y="0"/>
                    <a:pt x="7110603" y="125839"/>
                    <a:pt x="7110603" y="281036"/>
                  </a:cubicBezTo>
                  <a:lnTo>
                    <a:pt x="7110603" y="7958089"/>
                  </a:lnTo>
                  <a:cubicBezTo>
                    <a:pt x="7110603" y="8113286"/>
                    <a:pt x="6983222" y="8239125"/>
                    <a:pt x="6826123" y="8239125"/>
                  </a:cubicBezTo>
                  <a:lnTo>
                    <a:pt x="284480" y="8239125"/>
                  </a:lnTo>
                  <a:cubicBezTo>
                    <a:pt x="127381" y="8239125"/>
                    <a:pt x="0" y="8113286"/>
                    <a:pt x="0" y="79580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51715" y="3291840"/>
            <a:ext cx="4907128" cy="617220"/>
            <a:chOff x="0" y="0"/>
            <a:chExt cx="6542837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42786" cy="822960"/>
            </a:xfrm>
            <a:custGeom>
              <a:avLst/>
              <a:gdLst/>
              <a:ahLst/>
              <a:cxnLst/>
              <a:rect r="r" b="b" t="t" l="l"/>
              <a:pathLst>
                <a:path h="822960" w="6542786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295898" y="0"/>
                  </a:lnTo>
                  <a:cubicBezTo>
                    <a:pt x="6432296" y="0"/>
                    <a:pt x="6542786" y="110490"/>
                    <a:pt x="6542786" y="246888"/>
                  </a:cubicBezTo>
                  <a:lnTo>
                    <a:pt x="6542786" y="576072"/>
                  </a:lnTo>
                  <a:cubicBezTo>
                    <a:pt x="6542786" y="712470"/>
                    <a:pt x="6432296" y="822960"/>
                    <a:pt x="6295898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542837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Other resources (incl. human)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488875" y="4067175"/>
            <a:ext cx="4632808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Data: radar rainfall, DEM, drain maps, OpenStreetMap, past flood records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Mentor input from a hydrology or civil engineering expert</a:t>
            </a:r>
          </a:p>
          <a:p>
            <a:pPr algn="l">
              <a:lnSpc>
                <a:spcPts val="3060"/>
              </a:lnSpc>
            </a:pP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Team skills: GIS, ML, backend and frontend development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IntelliHive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rainfall forecast to street-level action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3086100"/>
            <a:ext cx="16641623" cy="1508760"/>
            <a:chOff x="0" y="0"/>
            <a:chExt cx="22188830" cy="2011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88805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88805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21947378" y="0"/>
                  </a:lnTo>
                  <a:cubicBezTo>
                    <a:pt x="22080728" y="0"/>
                    <a:pt x="22188805" y="108077"/>
                    <a:pt x="22188805" y="241427"/>
                  </a:cubicBezTo>
                  <a:lnTo>
                    <a:pt x="22188805" y="1770253"/>
                  </a:lnTo>
                  <a:cubicBezTo>
                    <a:pt x="22188805" y="1903603"/>
                    <a:pt x="22080728" y="2011680"/>
                    <a:pt x="21947378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4440" y="3086100"/>
            <a:ext cx="15818663" cy="1508760"/>
            <a:chOff x="0" y="0"/>
            <a:chExt cx="21091550" cy="2011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09155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291" r="0" b="-1542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109155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intend to do – 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system that couples rainfall nowcasts, terrain flow and drainage capacity to predict street-level flooding up to 3 hours ahead, starting with one Chennai pilot zone.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5816" y="4930616"/>
            <a:ext cx="7283768" cy="2985854"/>
            <a:chOff x="0" y="0"/>
            <a:chExt cx="9711690" cy="39811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1690" cy="3981139"/>
            </a:xfrm>
            <a:custGeom>
              <a:avLst/>
              <a:gdLst/>
              <a:ahLst/>
              <a:cxnLst/>
              <a:rect r="r" b="b" t="t" l="l"/>
              <a:pathLst>
                <a:path h="3981139" w="9711690">
                  <a:moveTo>
                    <a:pt x="0" y="159228"/>
                  </a:moveTo>
                  <a:cubicBezTo>
                    <a:pt x="0" y="71304"/>
                    <a:pt x="105156" y="0"/>
                    <a:pt x="234823" y="0"/>
                  </a:cubicBezTo>
                  <a:lnTo>
                    <a:pt x="9476867" y="0"/>
                  </a:lnTo>
                  <a:cubicBezTo>
                    <a:pt x="9606535" y="0"/>
                    <a:pt x="9711690" y="71304"/>
                    <a:pt x="9711690" y="159228"/>
                  </a:cubicBezTo>
                  <a:lnTo>
                    <a:pt x="9711690" y="3821911"/>
                  </a:lnTo>
                  <a:cubicBezTo>
                    <a:pt x="9711690" y="3909835"/>
                    <a:pt x="9606535" y="3981139"/>
                    <a:pt x="9476867" y="3981139"/>
                  </a:cubicBezTo>
                  <a:lnTo>
                    <a:pt x="234823" y="3981139"/>
                  </a:lnTo>
                  <a:cubicBezTo>
                    <a:pt x="105156" y="3981139"/>
                    <a:pt x="0" y="3909835"/>
                    <a:pt x="0" y="382191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28700" y="5143500"/>
            <a:ext cx="6858000" cy="617220"/>
            <a:chOff x="0" y="0"/>
            <a:chExt cx="914400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822960"/>
            </a:xfrm>
            <a:custGeom>
              <a:avLst/>
              <a:gdLst/>
              <a:ahLst/>
              <a:cxnLst/>
              <a:rect r="r" b="b" t="t" l="l"/>
              <a:pathLst>
                <a:path h="822960" w="914400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8897112" y="0"/>
                  </a:lnTo>
                  <a:cubicBezTo>
                    <a:pt x="9033510" y="0"/>
                    <a:pt x="9144000" y="110490"/>
                    <a:pt x="9144000" y="246888"/>
                  </a:cubicBezTo>
                  <a:lnTo>
                    <a:pt x="9144000" y="576072"/>
                  </a:lnTo>
                  <a:cubicBezTo>
                    <a:pt x="9144000" y="712470"/>
                    <a:pt x="9033510" y="822960"/>
                    <a:pt x="8897112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want to improve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65860" y="5918835"/>
            <a:ext cx="6583680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From “how much rain” to “which street floods, how deep, and when”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From reactive response to early warning and safe routing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428196" y="4930616"/>
            <a:ext cx="9043530" cy="2985854"/>
            <a:chOff x="0" y="0"/>
            <a:chExt cx="12058040" cy="39811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58015" cy="3981139"/>
            </a:xfrm>
            <a:custGeom>
              <a:avLst/>
              <a:gdLst/>
              <a:ahLst/>
              <a:cxnLst/>
              <a:rect r="r" b="b" t="t" l="l"/>
              <a:pathLst>
                <a:path h="3981139" w="12058015">
                  <a:moveTo>
                    <a:pt x="0" y="159228"/>
                  </a:moveTo>
                  <a:cubicBezTo>
                    <a:pt x="0" y="71304"/>
                    <a:pt x="105156" y="0"/>
                    <a:pt x="234823" y="0"/>
                  </a:cubicBezTo>
                  <a:lnTo>
                    <a:pt x="11823192" y="0"/>
                  </a:lnTo>
                  <a:cubicBezTo>
                    <a:pt x="11952860" y="0"/>
                    <a:pt x="12058015" y="71304"/>
                    <a:pt x="12058015" y="159228"/>
                  </a:cubicBezTo>
                  <a:lnTo>
                    <a:pt x="12058015" y="3821911"/>
                  </a:lnTo>
                  <a:cubicBezTo>
                    <a:pt x="12058015" y="3909835"/>
                    <a:pt x="11952860" y="3981139"/>
                    <a:pt x="11823192" y="3981139"/>
                  </a:cubicBezTo>
                  <a:lnTo>
                    <a:pt x="234823" y="3981139"/>
                  </a:lnTo>
                  <a:cubicBezTo>
                    <a:pt x="105156" y="3981139"/>
                    <a:pt x="0" y="3909835"/>
                    <a:pt x="0" y="382191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641080" y="5143500"/>
            <a:ext cx="8617763" cy="617220"/>
            <a:chOff x="0" y="0"/>
            <a:chExt cx="1149035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90325" cy="822960"/>
            </a:xfrm>
            <a:custGeom>
              <a:avLst/>
              <a:gdLst/>
              <a:ahLst/>
              <a:cxnLst/>
              <a:rect r="r" b="b" t="t" l="l"/>
              <a:pathLst>
                <a:path h="822960" w="11490325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1243437" y="0"/>
                  </a:lnTo>
                  <a:cubicBezTo>
                    <a:pt x="11379835" y="0"/>
                    <a:pt x="11490325" y="110490"/>
                    <a:pt x="11490325" y="246888"/>
                  </a:cubicBezTo>
                  <a:lnTo>
                    <a:pt x="11490325" y="576072"/>
                  </a:lnTo>
                  <a:cubicBezTo>
                    <a:pt x="11490325" y="712470"/>
                    <a:pt x="11379835" y="822960"/>
                    <a:pt x="11243437" y="822960"/>
                  </a:cubicBezTo>
                  <a:lnTo>
                    <a:pt x="246888" y="822960"/>
                  </a:lnTo>
                  <a:cubicBezTo>
                    <a:pt x="110490" y="822960"/>
                    <a:pt x="0" y="712470"/>
                    <a:pt x="0" y="576072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149035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success looks like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8778240" y="5918835"/>
            <a:ext cx="8343443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Flood depth predicted in cm for each street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Warning lead time that gives people time to act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Predictions checked against past flood events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working dashboard with alerts and flood-safe routes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DAHXhyzDRbM</dc:identifier>
  <dcterms:modified xsi:type="dcterms:W3CDTF">2011-08-01T06:04:30Z</dcterms:modified>
  <cp:revision>1</cp:revision>
  <dc:title>Team Name – IntelliHive Team Members – Archand S (CB.AI.U4QTS25007), Kruthic Kumar N L (CB.PS.I5DAS25014), Pranav S (CB.PS.I5DAS25128), Swetha T (CB.PS.I5DAS25136) Selected Domain – Domain 4: Climate Action, Water &amp; Environmental Resilience Problem</dc:title>
</cp:coreProperties>
</file>